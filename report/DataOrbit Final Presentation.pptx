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1517E4-CCD0-4BC1-BAFE-5031D2C23CBD}">
  <a:tblStyle styleId="{681517E4-CCD0-4BC1-BAFE-5031D2C23C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780877"/>
            <a:ext cx="112014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DataOrbit: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Healthcare Fraud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Detection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485977"/>
            <a:ext cx="10668000" cy="43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proactive machine learning solution to flag high-risk providers.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598539"/>
            <a:ext cx="5048250" cy="27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98539"/>
            <a:ext cx="5048250" cy="274677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1503164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2312789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90625" y="2979539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90625" y="3455789"/>
            <a:ext cx="4238625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Healthcare fraud costs billions annually. Reactive rule-based systems fail to catch complex, evolving fraud schemes in real-time.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10375" y="2979539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Our Objective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10375" y="3455789"/>
            <a:ext cx="4238625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Develop a proactive Machine Learning solution to flag high-risk providers based on claims data while minimizing false positives.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1413569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Data Architecture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62000" y="2223194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2765226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CMS Source Data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508944"/>
            <a:ext cx="5048250" cy="2887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3241476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Beneficiary: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Demographics, Chronic Conditions.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3725763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Inpatient: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Admissions, Diagnosis Codes, Costs.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4210050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Outpatient: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Visits, Procedures, Costs.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4694336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Labels: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Potential Fraud (Yes/No).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51520"/>
            <a:ext cx="5048250" cy="206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80814"/>
            <a:ext cx="5048250" cy="2405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28380"/>
            <a:ext cx="5048250" cy="206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57675"/>
            <a:ext cx="5048250" cy="2405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185439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762000" y="995064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190625" y="1832520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Volume Metrics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90625" y="2308770"/>
            <a:ext cx="4238625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claim counts, unique beneficiaries, and daily claim averages.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810375" y="1661814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Financial Metrics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810375" y="2138064"/>
            <a:ext cx="4238625" cy="1024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reimbursement amounts, deductibles, and average claim cost per provider.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190625" y="4809380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Network Metrics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90625" y="5285630"/>
            <a:ext cx="4238625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Patient churn, attending physician links, and diagnosis diversity.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810375" y="4638675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Data Aggregation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810375" y="5114925"/>
            <a:ext cx="4238625" cy="1024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Transactional claim data was aggregated to create a "Behavioral Fingerprint" for each provider.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1233189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Methodology: Handling Imbalance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62000" y="2042814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66591"/>
            <a:ext cx="5048250" cy="19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381750" y="2328564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9.3% Problem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81750" y="2804814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Only ~9% of providers are flagged as fraudulent. Standard models ignore the minority class.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81750" y="3630513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Solution: SMOTE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4106763"/>
            <a:ext cx="5048250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 used Synthetic Minority Over-sampling Technique (SMOTE) on the training data to create synthetic examples of fraud, allowing the model to learn robust decision boundaries.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317301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Model Algorithm Comparison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1412676"/>
            <a:ext cx="1066800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 tested four distinct algorithms on the test set. ROC-AUC was the primary metric for discriminative ability.</a:t>
            </a:r>
            <a:endParaRPr/>
          </a:p>
        </p:txBody>
      </p:sp>
      <p:graphicFrame>
        <p:nvGraphicFramePr>
          <p:cNvPr id="152" name="Google Shape;152;p18"/>
          <p:cNvGraphicFramePr/>
          <p:nvPr/>
        </p:nvGraphicFramePr>
        <p:xfrm>
          <a:off x="762000" y="242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{681517E4-CCD0-4BC1-BAFE-5031D2C23CBD}</a:tableStyleId>
              </a:tblPr>
              <a:tblGrid>
                <a:gridCol w="3121525"/>
                <a:gridCol w="2735025"/>
                <a:gridCol w="481147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ROC-AUC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0.7209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Underperforming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Selected (Best Balance)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Gradient Boosting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Highest Score (High Complexity)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18"/>
          <p:cNvSpPr txBox="1"/>
          <p:nvPr/>
        </p:nvSpPr>
        <p:spPr>
          <a:xfrm>
            <a:off x="762000" y="5705475"/>
            <a:ext cx="1066800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Note: While Gradient Boosting had a slightly higher AUC, Random Forest was selected for its robustness, parallelization capabilities, and lower risk of overfitting on noisy medical data.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62000" y="1126926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62000" y="3033712"/>
            <a:ext cx="312152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883521" y="3033712"/>
            <a:ext cx="27350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618535" y="3033712"/>
            <a:ext cx="48114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62000" y="3652837"/>
            <a:ext cx="312152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883521" y="3652837"/>
            <a:ext cx="27350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618535" y="3652837"/>
            <a:ext cx="48114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62000" y="4271962"/>
            <a:ext cx="312152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883521" y="4271962"/>
            <a:ext cx="27350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618535" y="4271962"/>
            <a:ext cx="48114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62000" y="4891087"/>
            <a:ext cx="312152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883521" y="4891087"/>
            <a:ext cx="273501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618535" y="4891087"/>
            <a:ext cx="481146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62000" y="1333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Detailed Evaluation (RF vs LR)</a:t>
            </a:r>
            <a:endParaRPr/>
          </a:p>
        </p:txBody>
      </p:sp>
      <p:graphicFrame>
        <p:nvGraphicFramePr>
          <p:cNvPr id="173" name="Google Shape;173;p19"/>
          <p:cNvGraphicFramePr/>
          <p:nvPr/>
        </p:nvGraphicFramePr>
        <p:xfrm>
          <a:off x="762000" y="2428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{681517E4-CCD0-4BC1-BAFE-5031D2C23CBD}</a:tableStyleId>
              </a:tblPr>
              <a:tblGrid>
                <a:gridCol w="1382750"/>
                <a:gridCol w="2339425"/>
                <a:gridCol w="1881925"/>
                <a:gridCol w="506387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 generates significantly fewer false alarms.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LR catches more, but at the cost of accuracy.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 offers the best balance of precision and recall.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39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Both models rank risk effectively.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9"/>
          <p:cNvSpPr/>
          <p:nvPr/>
        </p:nvSpPr>
        <p:spPr>
          <a:xfrm>
            <a:off x="762000" y="2143125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762000" y="3033712"/>
            <a:ext cx="138276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144762" y="3033712"/>
            <a:ext cx="233942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484191" y="3033712"/>
            <a:ext cx="18819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366123" y="3033712"/>
            <a:ext cx="50638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62000" y="3652837"/>
            <a:ext cx="138276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144762" y="3652837"/>
            <a:ext cx="233942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484191" y="3652837"/>
            <a:ext cx="18819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366123" y="3652837"/>
            <a:ext cx="50638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62000" y="4271962"/>
            <a:ext cx="138276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144762" y="4271962"/>
            <a:ext cx="233942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484191" y="4271962"/>
            <a:ext cx="18819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366123" y="4271962"/>
            <a:ext cx="50638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62000" y="4891087"/>
            <a:ext cx="138276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144762" y="4891087"/>
            <a:ext cx="233942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484191" y="4891087"/>
            <a:ext cx="188193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366123" y="4891087"/>
            <a:ext cx="50638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6425"/>
            <a:ext cx="51435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78105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ROC Curve – Random Forest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762000" y="1590675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066925"/>
            <a:ext cx="4762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477000" y="2566689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Strong Separation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477000" y="3042939"/>
            <a:ext cx="495300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Random Forest model achieves a strong ROC-AUC of 0.92.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477000" y="3868638"/>
            <a:ext cx="4953000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This indicates a high ability to distinguish between fraud and legitimate providers across various threshold settings, significantly better than random guessing.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76425"/>
            <a:ext cx="51435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78105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Precision-Recall Curve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62000" y="1590675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066925"/>
            <a:ext cx="4762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477000" y="2566689"/>
            <a:ext cx="520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Why PR Matters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477000" y="3042939"/>
            <a:ext cx="4953000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Due to the class imbalance (only ~9% fraud), accuracy is misleading. The PR Curve shows the trade-off between capturing fraud (Recall) and being right when we do (Precision).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477000" y="4551461"/>
            <a:ext cx="495300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RF maintains high precision even at moderate recall levels.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2609850"/>
            <a:ext cx="19335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6675" y="2609850"/>
            <a:ext cx="19335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7850" y="4067175"/>
            <a:ext cx="19335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6675" y="4067175"/>
            <a:ext cx="1933575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762000" y="987028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Confusion Matrix (Test Set)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762000" y="1796653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1847850" y="2324100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Predicted: NO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3876675" y="2324100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Predicted: YES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62000" y="2609850"/>
            <a:ext cx="89535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Actual: NO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4067175"/>
            <a:ext cx="89535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Actual: YES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81750" y="2082403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2152650" y="2914650"/>
            <a:ext cx="13239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1141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152650" y="3476625"/>
            <a:ext cx="1323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TRUE NEGATIVE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181475" y="2914650"/>
            <a:ext cx="13239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85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186237" y="3476625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FALSE POSITIVE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2152650" y="4371975"/>
            <a:ext cx="13239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9A341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37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2400300" y="4933950"/>
            <a:ext cx="828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FALSE NEGATIVE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181475" y="4371975"/>
            <a:ext cx="13239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6653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90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219575" y="4933950"/>
            <a:ext cx="124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TRUE POSITIVE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381750" y="2558653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1141 Correct Rejections (TN):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The vast majority of legitimate providers are correctly cleared.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381750" y="3384351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90 Fraudsters Caught (TP):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The model successfully identified 90 high-risk entities.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381750" y="4210050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85 False Alarms (FP):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manageable workload for investigators.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381750" y="5035748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37 Missed (FN):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'Quiet' fraudsters that mimic normal behavior patterns closely.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762000" y="92065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Precision vs. Recall Trade-off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762000" y="1730275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016025"/>
            <a:ext cx="762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828800" y="5102125"/>
            <a:ext cx="853440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Random Forest (Blue) sacrifices some recall to significantly improve precision, reducing wasted auditor time.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10108"/>
            <a:ext cx="5048250" cy="27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110108"/>
            <a:ext cx="5048250" cy="274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28380"/>
            <a:ext cx="5048250" cy="2405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428380"/>
            <a:ext cx="5048250" cy="2405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762000" y="14733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Why Random Forest?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762000" y="824358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1190625" y="1491108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Non-Linearity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1190625" y="1967358"/>
            <a:ext cx="4238625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Fraud patterns are rarely linear. RF captures complex interactions between claim volume, beneficiary demographics, and costs.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810375" y="1491108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Robust to Noise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810375" y="1967358"/>
            <a:ext cx="4238625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By averaging multiple decision trees, RF reduces the variance and risk of overfitting inherent in single Decision Trees.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1190625" y="4809380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Interpretability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1190625" y="5285630"/>
            <a:ext cx="4238625" cy="1024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Feature Importance scores allow us to explain </a:t>
            </a:r>
            <a:r>
              <a:rPr b="0" i="1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provider was flagged (e.g., "High Claim Count").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810375" y="4809380"/>
            <a:ext cx="44505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Operational Efficiency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810375" y="5285630"/>
            <a:ext cx="4238625" cy="1024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Higher precision means investigators spend less time chasing false leads compared to Logistic Regression.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762000" y="-92958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Operational Conclusion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762000" y="-119955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762000" y="1351061"/>
            <a:ext cx="5048250" cy="779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Random Forest is the recommended model.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762000" y="2273796"/>
            <a:ext cx="5048250" cy="13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By flagging providers based on behavioral fingerprints rather than simple rules, DataOrbit allows the SIU (Special Investigation Unit) to move from reactive to proactive fraud detection.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62000" y="3972817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Next Steps: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65794"/>
            <a:ext cx="5048250" cy="757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762000" y="4457104"/>
            <a:ext cx="504825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model to batch process monthly claims.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762000" y="4941391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Investigate the top 50 highest-risk providers immediately.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762000" y="5767089"/>
            <a:ext cx="5048250" cy="6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679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Refine feature engineering to capture "quiet" fraudsters (False Negatives).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 txBox="1"/>
          <p:nvPr/>
        </p:nvSpPr>
        <p:spPr>
          <a:xfrm>
            <a:off x="3820715" y="2619077"/>
            <a:ext cx="455056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Questions?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4486275" y="3647777"/>
            <a:ext cx="3219450" cy="43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DataOrbit Project Review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4400550" y="2096541"/>
            <a:ext cx="356044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4400550" y="2906166"/>
            <a:ext cx="5715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1552575" y="3191916"/>
            <a:ext cx="90868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1552575" y="3967162"/>
            <a:ext cx="90868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1552575" y="3967162"/>
            <a:ext cx="90868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75" y="33413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2647950" y="3334791"/>
            <a:ext cx="79914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https://miro.medium.com/v2/resize:fit:666/1*vh1hFhWU0w0CzCiA64Xy3A.png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2647950" y="3580507"/>
            <a:ext cx="79914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306" name="Google Shape;3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41261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2647950" y="4119562"/>
            <a:ext cx="79914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https://pub.mdpi-res.com/mathematics/mathematics-12-01709/article_deploy/html/images/mathematics-12-01709-g001.png?1718092992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2647950" y="4365277"/>
            <a:ext cx="79914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