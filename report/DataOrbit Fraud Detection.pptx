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46D200-7B82-46BD-9C47-60401A2F0F15}">
  <a:tblStyle styleId="{C546D200-7B82-46BD-9C47-60401A2F0F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-regular.fntdata"/><Relationship Id="rId21" Type="http://schemas.openxmlformats.org/officeDocument/2006/relationships/slide" Target="slides/slide15.xml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52500" y="1900237"/>
            <a:ext cx="6230778" cy="2200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DataOrbit: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Healthcare Provider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Fraud Detection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52500" y="4291012"/>
            <a:ext cx="7467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proactive machine learning solution to flag high-risk providers.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24150"/>
            <a:ext cx="528637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24150"/>
            <a:ext cx="52863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52500" y="3105150"/>
            <a:ext cx="4750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3533775"/>
            <a:ext cx="4524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Healthcare fraud imposes a massive financial burden ($68B+ annually). Reactive systems fail to catch complex schemes in real-time.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15125" y="3105150"/>
            <a:ext cx="4750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Our Objective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15125" y="3533775"/>
            <a:ext cx="4524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Develop a proactive ML solution to flag high-risk providers while strictly minimizing false positives to save auditor time.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762000" y="2052637"/>
            <a:ext cx="4800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Data Architecture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62000" y="2986087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CMS Source Data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3009900" y="2138362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104900" y="339566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43000" y="3395662"/>
            <a:ext cx="4191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Labels: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Fraud status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104900" y="370998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143000" y="3709987"/>
            <a:ext cx="4191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Beneficiary: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Demographics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104900" y="402431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143000" y="4024312"/>
            <a:ext cx="4191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Inpatient: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Admissions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104900" y="433863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143000" y="4338637"/>
            <a:ext cx="4191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Outpatient: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Visits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14650"/>
            <a:ext cx="34924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914650"/>
            <a:ext cx="3492549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914650"/>
            <a:ext cx="349240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Feature Engineering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94228" y="3209925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Volume Metrics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66775" y="3743325"/>
            <a:ext cx="29018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Claim counts &amp; beneficiary counts per provider.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572375" y="32099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Financial Metrics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4925" y="3743325"/>
            <a:ext cx="290199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Total reimbursement amounts &amp; deductibles.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50679" y="3209925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Network Metrics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3225" y="3743325"/>
            <a:ext cx="29018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Patient churning ratios &amp; inpatient admission rates.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6858000" y="1290637"/>
            <a:ext cx="4800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Methodology: SMOTE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858000" y="2224087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The 9.3% Problem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858000" y="2652712"/>
            <a:ext cx="4572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Only 9.3% of providers were fraudulent. Standard models bias heavily towards the majority class (non-fraud).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858000" y="3986212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858000" y="4414837"/>
            <a:ext cx="4572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We applied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Synthetic Minority Over-sampling Technique (SMOTE)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to the training data to help the model learn fraud patterns effectively.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9105900" y="1376362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43162"/>
            <a:ext cx="52863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43162"/>
            <a:ext cx="5286375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Modeling Strategy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952500" y="2824162"/>
            <a:ext cx="4750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Baseline: Logistic Regression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52500" y="3252787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High interpretability.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52500" y="3776662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Cons: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Linear assumption. High Recall but low Precision (too many false alarms).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734175" y="2843212"/>
            <a:ext cx="471058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Primary: Random Forest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734175" y="3271837"/>
            <a:ext cx="44862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Pros: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Non-linear ensemble learning.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734175" y="3795712"/>
            <a:ext cx="44862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Why: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Captures complex interactions between volume and demographics better than linear models.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Model Evaluation Matrix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19"/>
          <p:cNvGraphicFramePr/>
          <p:nvPr/>
        </p:nvGraphicFramePr>
        <p:xfrm>
          <a:off x="571500" y="2233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{C546D200-7B82-46BD-9C47-60401A2F0F15}</a:tableStyleId>
              </a:tblPr>
              <a:tblGrid>
                <a:gridCol w="1473850"/>
                <a:gridCol w="2351925"/>
                <a:gridCol w="1954700"/>
                <a:gridCol w="5268525"/>
              </a:tblGrid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Logistic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Interpretation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ROC-AUC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Both rank risk effectively.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RF is significantly better at reducing false alarms.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LR catches more but flags many innocents.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0.54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0.60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RF is the balanced choice.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9"/>
          <p:cNvSpPr/>
          <p:nvPr/>
        </p:nvSpPr>
        <p:spPr>
          <a:xfrm>
            <a:off x="571500" y="3619500"/>
            <a:ext cx="14738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2045344" y="3619500"/>
            <a:ext cx="2351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397275" y="3619500"/>
            <a:ext cx="1954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351984" y="3619500"/>
            <a:ext cx="5268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71500" y="4324350"/>
            <a:ext cx="14738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2045344" y="4324350"/>
            <a:ext cx="2351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397275" y="4324350"/>
            <a:ext cx="1954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6351984" y="4324350"/>
            <a:ext cx="5268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71500" y="5029200"/>
            <a:ext cx="14738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2045344" y="5029200"/>
            <a:ext cx="2351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4397275" y="5029200"/>
            <a:ext cx="1954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351984" y="5029200"/>
            <a:ext cx="5268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71500" y="5734050"/>
            <a:ext cx="14738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2045344" y="5734050"/>
            <a:ext cx="23519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397275" y="5734050"/>
            <a:ext cx="19547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351984" y="5734050"/>
            <a:ext cx="5268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90725"/>
            <a:ext cx="11049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ROC Curve – Random Forest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334125" y="19907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Strong Separation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34125" y="2419350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 Random Forest model achieves a strong ROC-AUC of 0.92.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34125" y="3257550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This indicates a high ability to distinguish between fraud and legitimate providers across various threshold settings.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90725"/>
            <a:ext cx="11049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Precision-Recall Curve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334125" y="19907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Why PR Matters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334125" y="2419350"/>
            <a:ext cx="52863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Due to the class imbalance (only 9.3% fraud), accuracy is misleading. The PR Curve shows us the trade-off between capturing fraud (Recall) and being right when we do (Precision).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334125" y="3886200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RF maintains high precision even at decent recall levels.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05062"/>
            <a:ext cx="206692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3675" y="2405062"/>
            <a:ext cx="206692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3675" y="3614737"/>
            <a:ext cx="206692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824412"/>
            <a:ext cx="2066925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Confusion Matrix (Test Set)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2733675" y="1852612"/>
            <a:ext cx="2066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Predicted: No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71500" y="2128837"/>
            <a:ext cx="2066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Predicted: Yes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2733675" y="2128837"/>
            <a:ext cx="2066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Actual: No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3614737"/>
            <a:ext cx="2066925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Actual: Yes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334125" y="185261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Key Takeaways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57250" y="2690812"/>
            <a:ext cx="1495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Urbanist"/>
                <a:ea typeface="Urbanist"/>
                <a:cs typeface="Urbanist"/>
                <a:sym typeface="Urbanist"/>
              </a:rPr>
              <a:t>8,500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57250" y="3052762"/>
            <a:ext cx="1495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True Negatives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3019425" y="2690812"/>
            <a:ext cx="1495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200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3019425" y="3052762"/>
            <a:ext cx="1495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False Positives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3019425" y="3900487"/>
            <a:ext cx="1495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91B1B"/>
                </a:solidFill>
                <a:latin typeface="Urbanist"/>
                <a:ea typeface="Urbanist"/>
                <a:cs typeface="Urbanist"/>
                <a:sym typeface="Urbanist"/>
              </a:rPr>
              <a:t>150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3019425" y="4262437"/>
            <a:ext cx="1495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False Negatives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857250" y="5110162"/>
            <a:ext cx="1495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Urbanist"/>
                <a:ea typeface="Urbanist"/>
                <a:cs typeface="Urbanist"/>
                <a:sym typeface="Urbanist"/>
              </a:rPr>
              <a:t>450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57250" y="5472112"/>
            <a:ext cx="1495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True Positives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677025" y="222408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715125" y="2224087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TP (450):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Successfully caught 450 fraud cases.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677025" y="253841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715125" y="2538412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FP (200):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Only 200 legitimate providers were inconvenienced.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677025" y="316706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715125" y="3167062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FN (150):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Missed some fraud, but minimized noise significantly compared to LR.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Precision vs. Recall Trade-off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571500" y="501491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Random Forest (Blue) sacrifices some recall to gain significant precision.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Why Random Forest Is the Final Model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Google Shape;240;p24"/>
          <p:cNvGraphicFramePr/>
          <p:nvPr/>
        </p:nvGraphicFramePr>
        <p:xfrm>
          <a:off x="571500" y="2114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{C546D200-7B82-46BD-9C47-60401A2F0F15}</a:tableStyleId>
              </a:tblPr>
              <a:tblGrid>
                <a:gridCol w="1800225"/>
                <a:gridCol w="1748275"/>
                <a:gridCol w="1737875"/>
              </a:tblGrid>
              <a:tr h="93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Gradient Boosting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93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Interpretability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(Feature Imp.)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Low (Black Box)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Sensitive to noise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8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Overfitting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Low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4"/>
          <p:cNvSpPr txBox="1"/>
          <p:nvPr/>
        </p:nvSpPr>
        <p:spPr>
          <a:xfrm>
            <a:off x="6334125" y="19240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Decision Drivers</a:t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571500" y="4129087"/>
            <a:ext cx="1800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2371725" y="4129087"/>
            <a:ext cx="17482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4120008" y="4129087"/>
            <a:ext cx="1737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571500" y="5148262"/>
            <a:ext cx="1800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2371725" y="5148262"/>
            <a:ext cx="17482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4120008" y="5148262"/>
            <a:ext cx="1737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71500" y="5853112"/>
            <a:ext cx="1800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2371725" y="5853112"/>
            <a:ext cx="17482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4120008" y="5853112"/>
            <a:ext cx="1737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6677025" y="229552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6715125" y="229552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Transparency: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We can explain </a:t>
            </a:r>
            <a:r>
              <a:rPr b="0" i="1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why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 provider was flagged.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6677025" y="292417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6715125" y="292417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Stability: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It performs consistently even when retraining on new data.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6677025" y="355282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6715125" y="3552825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Efficiency: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Faster training and deployment cycles than boosting methods.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/>
        </p:nvSpPr>
        <p:spPr>
          <a:xfrm>
            <a:off x="762000" y="1419225"/>
            <a:ext cx="480060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Operational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 Conclusion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62000" y="3171825"/>
            <a:ext cx="45720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Random Forest is the clear recommendation. Its superior precision ensures the audit team focuses on high-probability targets, saving millions in operational costs.</a:t>
            </a:r>
            <a:endParaRPr/>
          </a:p>
        </p:txBody>
      </p:sp>
      <p:pic>
        <p:nvPicPr>
          <p:cNvPr descr="image.png"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/>
        </p:nvSpPr>
        <p:spPr>
          <a:xfrm>
            <a:off x="3620690" y="2428875"/>
            <a:ext cx="495061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3738562" y="3762375"/>
            <a:ext cx="4714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DataOrbit Project Review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75" name="Google Shape;275;p27"/>
          <p:cNvSpPr/>
          <p:nvPr/>
        </p:nvSpPr>
        <p:spPr>
          <a:xfrm>
            <a:off x="6057900" y="657225"/>
            <a:ext cx="76200" cy="381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571500" y="3128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571500" y="3890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71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1666875" y="32789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https://miro.medium.com/v2/resize:fit:666/1*vh1hFhWU0w0CzCiA64Xy3A.png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1666875" y="35123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/>
          </a:p>
        </p:txBody>
      </p:sp>
      <p:pic>
        <p:nvPicPr>
          <p:cNvPr descr="image.png" id="282" name="Google Shape;28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43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1666875" y="40505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https://pub.mdpi-res.com/mathematics/mathematics-12-01709/article_deploy/html/images/mathematics-12-01709-g001.png?1718092992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1666875" y="42838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www.mdpi.com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